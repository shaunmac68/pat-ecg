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3108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FBB5-03EE-4BCE-B8CD-322D0EF47BAE}" type="datetimeFigureOut">
              <a:rPr lang="en-GB" smtClean="0"/>
              <a:t>28/06/2024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4367-370B-498B-B082-39535A7216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014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FBB5-03EE-4BCE-B8CD-322D0EF47BAE}" type="datetimeFigureOut">
              <a:rPr lang="en-GB" smtClean="0"/>
              <a:t>28/06/2024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4367-370B-498B-B082-39535A7216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792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FBB5-03EE-4BCE-B8CD-322D0EF47BAE}" type="datetimeFigureOut">
              <a:rPr lang="en-GB" smtClean="0"/>
              <a:t>28/06/2024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4367-370B-498B-B082-39535A7216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290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FBB5-03EE-4BCE-B8CD-322D0EF47BAE}" type="datetimeFigureOut">
              <a:rPr lang="en-GB" smtClean="0"/>
              <a:t>28/06/2024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4367-370B-498B-B082-39535A7216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1863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FBB5-03EE-4BCE-B8CD-322D0EF47BAE}" type="datetimeFigureOut">
              <a:rPr lang="en-GB" smtClean="0"/>
              <a:t>28/06/2024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4367-370B-498B-B082-39535A7216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1115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FBB5-03EE-4BCE-B8CD-322D0EF47BAE}" type="datetimeFigureOut">
              <a:rPr lang="en-GB" smtClean="0"/>
              <a:t>28/06/2024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4367-370B-498B-B082-39535A7216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906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FBB5-03EE-4BCE-B8CD-322D0EF47BAE}" type="datetimeFigureOut">
              <a:rPr lang="en-GB" smtClean="0"/>
              <a:t>28/06/2024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4367-370B-498B-B082-39535A7216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684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FBB5-03EE-4BCE-B8CD-322D0EF47BAE}" type="datetimeFigureOut">
              <a:rPr lang="en-GB" smtClean="0"/>
              <a:t>28/06/2024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4367-370B-498B-B082-39535A7216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830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FBB5-03EE-4BCE-B8CD-322D0EF47BAE}" type="datetimeFigureOut">
              <a:rPr lang="en-GB" smtClean="0"/>
              <a:t>28/06/2024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4367-370B-498B-B082-39535A7216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375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FBB5-03EE-4BCE-B8CD-322D0EF47BAE}" type="datetimeFigureOut">
              <a:rPr lang="en-GB" smtClean="0"/>
              <a:t>28/06/2024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4367-370B-498B-B082-39535A7216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5252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6FBB5-03EE-4BCE-B8CD-322D0EF47BAE}" type="datetimeFigureOut">
              <a:rPr lang="en-GB" smtClean="0"/>
              <a:t>28/06/2024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B4367-370B-498B-B082-39535A7216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94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6FBB5-03EE-4BCE-B8CD-322D0EF47BAE}" type="datetimeFigureOut">
              <a:rPr lang="en-GB" smtClean="0"/>
              <a:t>28/06/2024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B4367-370B-498B-B082-39535A7216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0203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3D_User\Desktop\D-Type Femal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502566" y="3551700"/>
            <a:ext cx="763263" cy="338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3" descr="C:\Users\3D_User\Desktop\D-Type Mal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066917" y="3540390"/>
            <a:ext cx="720960" cy="341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04664"/>
            <a:ext cx="7920880" cy="5976664"/>
          </a:xfrm>
        </p:spPr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Cardiac </a:t>
            </a:r>
            <a:r>
              <a:rPr lang="en-GB" dirty="0" err="1" smtClean="0">
                <a:solidFill>
                  <a:schemeClr val="tx1"/>
                </a:solidFill>
              </a:rPr>
              <a:t>Interoceptive</a:t>
            </a:r>
            <a:r>
              <a:rPr lang="en-GB" dirty="0" smtClean="0">
                <a:solidFill>
                  <a:schemeClr val="tx1"/>
                </a:solidFill>
              </a:rPr>
              <a:t> Task (Circuit Diagram)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1026" name="Picture 2" descr="C:\Users\3D_User\Desktop\encoder new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74" t="9693" r="25840" b="7037"/>
          <a:stretch/>
        </p:blipFill>
        <p:spPr bwMode="auto">
          <a:xfrm rot="16200000">
            <a:off x="6806741" y="1690360"/>
            <a:ext cx="1214204" cy="149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3D_User\Downloads\Teensy 4.0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826" y="2125665"/>
            <a:ext cx="614837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 flipH="1">
            <a:off x="1368267" y="2273394"/>
            <a:ext cx="1115501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 flipV="1">
            <a:off x="1368267" y="3150735"/>
            <a:ext cx="1115501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1368267" y="3073891"/>
            <a:ext cx="1115501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 flipV="1">
            <a:off x="1368267" y="3002900"/>
            <a:ext cx="1115501" cy="382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 flipV="1">
            <a:off x="1368267" y="2929106"/>
            <a:ext cx="1115501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 flipV="1">
            <a:off x="1368267" y="2852652"/>
            <a:ext cx="1115501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 flipV="1">
            <a:off x="1368267" y="2777450"/>
            <a:ext cx="1115501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1369960" y="2704196"/>
            <a:ext cx="1113808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 flipV="1">
            <a:off x="1375039" y="2630675"/>
            <a:ext cx="1108729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 flipV="1">
            <a:off x="1368267" y="2561426"/>
            <a:ext cx="1115501" cy="382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 flipV="1">
            <a:off x="1368267" y="2489418"/>
            <a:ext cx="1115501" cy="382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1368267" y="2417410"/>
            <a:ext cx="1115501" cy="382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 flipV="1">
            <a:off x="1368267" y="2340416"/>
            <a:ext cx="1115501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5339332" y="1956208"/>
            <a:ext cx="1080120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 flipV="1">
            <a:off x="5339332" y="2833549"/>
            <a:ext cx="1068536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 flipV="1">
            <a:off x="5339332" y="2756705"/>
            <a:ext cx="1080120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 flipV="1">
            <a:off x="5339332" y="2685714"/>
            <a:ext cx="1080120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 flipV="1">
            <a:off x="5339332" y="2611920"/>
            <a:ext cx="1068536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5339332" y="2535466"/>
            <a:ext cx="1080120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 flipV="1">
            <a:off x="5339332" y="2460264"/>
            <a:ext cx="1080120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 flipV="1">
            <a:off x="5339332" y="2388256"/>
            <a:ext cx="1080120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 flipV="1">
            <a:off x="5339332" y="2316248"/>
            <a:ext cx="1080120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5339332" y="2244240"/>
            <a:ext cx="1080120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 flipV="1">
            <a:off x="5339332" y="2172232"/>
            <a:ext cx="1080120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 flipV="1">
            <a:off x="5339332" y="2100224"/>
            <a:ext cx="1080120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 flipV="1">
            <a:off x="5339332" y="2023230"/>
            <a:ext cx="1080120" cy="764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1364881" y="2267387"/>
            <a:ext cx="10158" cy="1449718"/>
          </a:xfrm>
          <a:prstGeom prst="line">
            <a:avLst/>
          </a:prstGeom>
          <a:ln w="158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375039" y="356953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1375039" y="3717105"/>
            <a:ext cx="2404873" cy="0"/>
          </a:xfrm>
          <a:prstGeom prst="line">
            <a:avLst/>
          </a:prstGeom>
          <a:ln w="158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5333540" y="1956208"/>
            <a:ext cx="11584" cy="1764707"/>
          </a:xfrm>
          <a:prstGeom prst="line">
            <a:avLst/>
          </a:prstGeom>
          <a:ln w="158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6407868" y="1586543"/>
            <a:ext cx="2011949" cy="1520875"/>
          </a:xfrm>
          <a:prstGeom prst="rect">
            <a:avLst/>
          </a:prstGeom>
          <a:noFill/>
          <a:ln w="12700">
            <a:solidFill>
              <a:schemeClr val="accent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/>
          <p:cNvSpPr txBox="1"/>
          <p:nvPr/>
        </p:nvSpPr>
        <p:spPr>
          <a:xfrm>
            <a:off x="1144935" y="2192449"/>
            <a:ext cx="288862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" dirty="0" smtClean="0"/>
              <a:t>D0</a:t>
            </a:r>
          </a:p>
          <a:p>
            <a:pPr algn="r"/>
            <a:r>
              <a:rPr lang="en-GB" sz="480" dirty="0" smtClean="0"/>
              <a:t>D1</a:t>
            </a:r>
          </a:p>
          <a:p>
            <a:pPr algn="r"/>
            <a:r>
              <a:rPr lang="en-GB" sz="480" dirty="0" smtClean="0"/>
              <a:t>D2</a:t>
            </a:r>
          </a:p>
          <a:p>
            <a:pPr algn="r"/>
            <a:r>
              <a:rPr lang="en-GB" sz="480" dirty="0" smtClean="0"/>
              <a:t>D3</a:t>
            </a:r>
          </a:p>
          <a:p>
            <a:pPr algn="r"/>
            <a:r>
              <a:rPr lang="en-GB" sz="480" dirty="0" smtClean="0"/>
              <a:t>D4</a:t>
            </a:r>
          </a:p>
          <a:p>
            <a:pPr algn="r"/>
            <a:r>
              <a:rPr lang="en-GB" sz="480" dirty="0" smtClean="0"/>
              <a:t>D5</a:t>
            </a:r>
          </a:p>
          <a:p>
            <a:pPr algn="r"/>
            <a:r>
              <a:rPr lang="en-GB" sz="480" dirty="0" smtClean="0"/>
              <a:t>D6</a:t>
            </a:r>
          </a:p>
          <a:p>
            <a:pPr algn="r"/>
            <a:r>
              <a:rPr lang="en-GB" sz="480" dirty="0" smtClean="0"/>
              <a:t>D7</a:t>
            </a:r>
          </a:p>
          <a:p>
            <a:pPr algn="r"/>
            <a:r>
              <a:rPr lang="en-GB" sz="480" dirty="0" smtClean="0"/>
              <a:t>D8</a:t>
            </a:r>
          </a:p>
          <a:p>
            <a:pPr algn="r"/>
            <a:r>
              <a:rPr lang="en-GB" sz="480" dirty="0" smtClean="0"/>
              <a:t>D9</a:t>
            </a:r>
          </a:p>
          <a:p>
            <a:pPr algn="r"/>
            <a:r>
              <a:rPr lang="en-GB" sz="480" dirty="0" smtClean="0"/>
              <a:t>D10</a:t>
            </a:r>
          </a:p>
          <a:p>
            <a:pPr algn="r"/>
            <a:r>
              <a:rPr lang="en-GB" sz="480" dirty="0" smtClean="0"/>
              <a:t>D11</a:t>
            </a:r>
          </a:p>
          <a:p>
            <a:pPr algn="r"/>
            <a:r>
              <a:rPr lang="en-GB" sz="480" dirty="0" smtClean="0"/>
              <a:t>D12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376174" y="1871089"/>
            <a:ext cx="245580" cy="1052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" dirty="0" smtClean="0"/>
              <a:t>3</a:t>
            </a:r>
          </a:p>
          <a:p>
            <a:r>
              <a:rPr lang="en-GB" sz="480" dirty="0" smtClean="0"/>
              <a:t>4</a:t>
            </a:r>
          </a:p>
          <a:p>
            <a:r>
              <a:rPr lang="en-GB" sz="480" dirty="0"/>
              <a:t>5</a:t>
            </a:r>
            <a:endParaRPr lang="en-GB" sz="480" dirty="0" smtClean="0"/>
          </a:p>
          <a:p>
            <a:r>
              <a:rPr lang="en-GB" sz="480" dirty="0" smtClean="0"/>
              <a:t>6</a:t>
            </a:r>
          </a:p>
          <a:p>
            <a:r>
              <a:rPr lang="en-GB" sz="480" dirty="0" smtClean="0"/>
              <a:t>7</a:t>
            </a:r>
          </a:p>
          <a:p>
            <a:r>
              <a:rPr lang="en-GB" sz="480" dirty="0" smtClean="0"/>
              <a:t>8</a:t>
            </a:r>
          </a:p>
          <a:p>
            <a:r>
              <a:rPr lang="en-GB" sz="480" dirty="0" smtClean="0"/>
              <a:t>9</a:t>
            </a:r>
          </a:p>
          <a:p>
            <a:r>
              <a:rPr lang="en-GB" sz="480" dirty="0" smtClean="0"/>
              <a:t>10</a:t>
            </a:r>
          </a:p>
          <a:p>
            <a:r>
              <a:rPr lang="en-GB" sz="480" dirty="0" smtClean="0"/>
              <a:t>11</a:t>
            </a:r>
          </a:p>
          <a:p>
            <a:r>
              <a:rPr lang="en-GB" sz="480" dirty="0" smtClean="0"/>
              <a:t>12</a:t>
            </a:r>
          </a:p>
          <a:p>
            <a:r>
              <a:rPr lang="en-GB" sz="480" dirty="0" smtClean="0"/>
              <a:t>13</a:t>
            </a:r>
          </a:p>
          <a:p>
            <a:r>
              <a:rPr lang="en-GB" sz="480" dirty="0" smtClean="0"/>
              <a:t>14</a:t>
            </a:r>
          </a:p>
          <a:p>
            <a:r>
              <a:rPr lang="en-GB" sz="480" dirty="0" smtClean="0"/>
              <a:t>15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621754" y="1684091"/>
            <a:ext cx="14422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 smtClean="0"/>
              <a:t>13 Bit </a:t>
            </a:r>
            <a:r>
              <a:rPr lang="en-GB" sz="800" dirty="0" err="1" smtClean="0"/>
              <a:t>Gray</a:t>
            </a:r>
            <a:r>
              <a:rPr lang="en-GB" sz="800" dirty="0" smtClean="0"/>
              <a:t> Code Encoder ESA58.2135.G13.2</a:t>
            </a:r>
            <a:endParaRPr lang="en-GB" sz="800" dirty="0"/>
          </a:p>
        </p:txBody>
      </p:sp>
      <p:sp>
        <p:nvSpPr>
          <p:cNvPr id="113" name="TextBox 112"/>
          <p:cNvSpPr txBox="1"/>
          <p:nvPr/>
        </p:nvSpPr>
        <p:spPr>
          <a:xfrm>
            <a:off x="1727327" y="1907759"/>
            <a:ext cx="10995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/>
              <a:t>Teensy 4.0 MPU</a:t>
            </a:r>
            <a:endParaRPr lang="en-GB" sz="1000" dirty="0"/>
          </a:p>
        </p:txBody>
      </p:sp>
      <p:cxnSp>
        <p:nvCxnSpPr>
          <p:cNvPr id="111" name="Straight Connector 110"/>
          <p:cNvCxnSpPr/>
          <p:nvPr/>
        </p:nvCxnSpPr>
        <p:spPr>
          <a:xfrm flipH="1">
            <a:off x="2089140" y="2192018"/>
            <a:ext cx="39462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2089140" y="2192018"/>
            <a:ext cx="0" cy="1603604"/>
          </a:xfrm>
          <a:prstGeom prst="line">
            <a:avLst/>
          </a:prstGeom>
          <a:ln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/>
          <p:nvPr/>
        </p:nvCxnSpPr>
        <p:spPr>
          <a:xfrm flipV="1">
            <a:off x="5652120" y="1709654"/>
            <a:ext cx="0" cy="2088589"/>
          </a:xfrm>
          <a:prstGeom prst="line">
            <a:avLst/>
          </a:prstGeom>
          <a:ln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Connector 1023"/>
          <p:cNvCxnSpPr/>
          <p:nvPr/>
        </p:nvCxnSpPr>
        <p:spPr>
          <a:xfrm>
            <a:off x="5652120" y="1709653"/>
            <a:ext cx="755748" cy="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Connector 1028"/>
          <p:cNvCxnSpPr/>
          <p:nvPr/>
        </p:nvCxnSpPr>
        <p:spPr>
          <a:xfrm>
            <a:off x="2933401" y="2192018"/>
            <a:ext cx="881947" cy="43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1035"/>
          <p:cNvCxnSpPr/>
          <p:nvPr/>
        </p:nvCxnSpPr>
        <p:spPr>
          <a:xfrm flipH="1">
            <a:off x="5255740" y="1767320"/>
            <a:ext cx="116371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6376174" y="1621365"/>
            <a:ext cx="215123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" dirty="0" smtClean="0"/>
              <a:t>1</a:t>
            </a:r>
          </a:p>
          <a:p>
            <a:r>
              <a:rPr lang="en-GB" sz="480" dirty="0"/>
              <a:t>2</a:t>
            </a:r>
            <a:endParaRPr lang="en-GB" sz="480" dirty="0" smtClean="0"/>
          </a:p>
        </p:txBody>
      </p:sp>
      <p:sp>
        <p:nvSpPr>
          <p:cNvPr id="1053" name="TextBox 1052"/>
          <p:cNvSpPr txBox="1"/>
          <p:nvPr/>
        </p:nvSpPr>
        <p:spPr>
          <a:xfrm>
            <a:off x="1925867" y="5374145"/>
            <a:ext cx="35603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>
                <a:solidFill>
                  <a:schemeClr val="accent3"/>
                </a:solidFill>
              </a:rPr>
              <a:t>GND</a:t>
            </a:r>
            <a:endParaRPr lang="en-GB" sz="600" dirty="0">
              <a:solidFill>
                <a:schemeClr val="accent3"/>
              </a:solidFill>
            </a:endParaRPr>
          </a:p>
        </p:txBody>
      </p:sp>
      <p:cxnSp>
        <p:nvCxnSpPr>
          <p:cNvPr id="1055" name="Straight Connector 1054"/>
          <p:cNvCxnSpPr/>
          <p:nvPr/>
        </p:nvCxnSpPr>
        <p:spPr>
          <a:xfrm flipH="1">
            <a:off x="2084642" y="3795622"/>
            <a:ext cx="2249" cy="158550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/>
          <p:nvPr/>
        </p:nvCxnSpPr>
        <p:spPr>
          <a:xfrm>
            <a:off x="2012634" y="5381131"/>
            <a:ext cx="144016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>
            <a:off x="3740181" y="2064104"/>
            <a:ext cx="144016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/>
          <p:nvPr/>
        </p:nvCxnSpPr>
        <p:spPr>
          <a:xfrm>
            <a:off x="3812189" y="2061022"/>
            <a:ext cx="3159" cy="13589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3678979" y="1901173"/>
            <a:ext cx="26642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" dirty="0" smtClean="0">
                <a:solidFill>
                  <a:schemeClr val="accent3"/>
                </a:solidFill>
              </a:rPr>
              <a:t>5V</a:t>
            </a:r>
            <a:endParaRPr lang="en-GB" sz="600" dirty="0">
              <a:solidFill>
                <a:schemeClr val="accent3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H="1">
            <a:off x="5004048" y="3794149"/>
            <a:ext cx="64807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V="1">
            <a:off x="3420162" y="2192019"/>
            <a:ext cx="0" cy="145307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5004048" y="3711097"/>
            <a:ext cx="335284" cy="0"/>
          </a:xfrm>
          <a:prstGeom prst="line">
            <a:avLst/>
          </a:prstGeom>
          <a:ln w="15875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V="1">
            <a:off x="5255740" y="1767320"/>
            <a:ext cx="3159" cy="186694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/>
          <p:nvPr/>
        </p:nvCxnSpPr>
        <p:spPr>
          <a:xfrm flipV="1">
            <a:off x="2084642" y="3793694"/>
            <a:ext cx="1695270" cy="455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/>
          <p:nvPr/>
        </p:nvCxnSpPr>
        <p:spPr>
          <a:xfrm flipH="1" flipV="1">
            <a:off x="3420162" y="3644939"/>
            <a:ext cx="359750" cy="156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 flipH="1">
            <a:off x="5002468" y="3635859"/>
            <a:ext cx="25327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 flipH="1">
            <a:off x="2084642" y="4505642"/>
            <a:ext cx="153016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2958640" y="3006504"/>
            <a:ext cx="245208" cy="21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V="1">
            <a:off x="3203848" y="3002901"/>
            <a:ext cx="0" cy="1146179"/>
          </a:xfrm>
          <a:prstGeom prst="line">
            <a:avLst/>
          </a:prstGeom>
          <a:ln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/>
          <p:nvPr/>
        </p:nvCxnSpPr>
        <p:spPr>
          <a:xfrm>
            <a:off x="3203848" y="4313195"/>
            <a:ext cx="435115" cy="43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TextBox 1044"/>
          <p:cNvSpPr txBox="1"/>
          <p:nvPr/>
        </p:nvSpPr>
        <p:spPr>
          <a:xfrm>
            <a:off x="4222905" y="4725144"/>
            <a:ext cx="897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3.5mm jack socket (for computer speakers)</a:t>
            </a:r>
            <a:endParaRPr lang="en-GB" sz="600" dirty="0"/>
          </a:p>
        </p:txBody>
      </p:sp>
      <p:pic>
        <p:nvPicPr>
          <p:cNvPr id="1046" name="Picture 6" descr="C:\Users\3D_User\Desktop\3.5mm Speakers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3528727"/>
            <a:ext cx="1122339" cy="913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2" name="Straight Arrow Connector 1051"/>
          <p:cNvCxnSpPr>
            <a:endCxn id="1046" idx="1"/>
          </p:cNvCxnSpPr>
          <p:nvPr/>
        </p:nvCxnSpPr>
        <p:spPr>
          <a:xfrm flipV="1">
            <a:off x="4860032" y="3985493"/>
            <a:ext cx="1512168" cy="398163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 flipH="1">
            <a:off x="3203848" y="4438717"/>
            <a:ext cx="41096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6372200" y="4446718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 smtClean="0"/>
              <a:t>Speakers should have a 3.5mm jack plug for audio input</a:t>
            </a:r>
            <a:endParaRPr lang="en-GB" sz="800" dirty="0"/>
          </a:p>
        </p:txBody>
      </p:sp>
      <p:pic>
        <p:nvPicPr>
          <p:cNvPr id="145" name="Picture 8" descr="C:\Users\3D_User\Desktop\3.5mm jack plug-socket only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4807" y="4272030"/>
            <a:ext cx="413503" cy="24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2" name="Rectangle 161"/>
          <p:cNvSpPr/>
          <p:nvPr/>
        </p:nvSpPr>
        <p:spPr>
          <a:xfrm>
            <a:off x="1073484" y="1586542"/>
            <a:ext cx="3024336" cy="4002697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3" name="TextBox 162"/>
          <p:cNvSpPr txBox="1"/>
          <p:nvPr/>
        </p:nvSpPr>
        <p:spPr>
          <a:xfrm>
            <a:off x="2089949" y="1192965"/>
            <a:ext cx="13067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 smtClean="0"/>
              <a:t>USB data lead </a:t>
            </a:r>
            <a:r>
              <a:rPr lang="en-GB" sz="800" dirty="0" smtClean="0"/>
              <a:t>to </a:t>
            </a:r>
            <a:r>
              <a:rPr lang="en-GB" sz="800" dirty="0" smtClean="0"/>
              <a:t>computer</a:t>
            </a:r>
            <a:endParaRPr lang="en-GB" sz="800" dirty="0"/>
          </a:p>
        </p:txBody>
      </p:sp>
      <p:cxnSp>
        <p:nvCxnSpPr>
          <p:cNvPr id="166" name="Straight Arrow Connector 165"/>
          <p:cNvCxnSpPr>
            <a:stCxn id="1027" idx="0"/>
          </p:cNvCxnSpPr>
          <p:nvPr/>
        </p:nvCxnSpPr>
        <p:spPr>
          <a:xfrm flipH="1" flipV="1">
            <a:off x="2714243" y="1355151"/>
            <a:ext cx="2" cy="77051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1073484" y="5949280"/>
            <a:ext cx="1381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 smtClean="0"/>
              <a:t>ABS plastic enclosure to house circuit and connectors</a:t>
            </a:r>
            <a:endParaRPr lang="en-GB" sz="800" dirty="0"/>
          </a:p>
        </p:txBody>
      </p:sp>
      <p:cxnSp>
        <p:nvCxnSpPr>
          <p:cNvPr id="170" name="Straight Arrow Connector 169"/>
          <p:cNvCxnSpPr>
            <a:stCxn id="168" idx="0"/>
          </p:cNvCxnSpPr>
          <p:nvPr/>
        </p:nvCxnSpPr>
        <p:spPr>
          <a:xfrm flipV="1">
            <a:off x="1764322" y="5589240"/>
            <a:ext cx="71374" cy="360040"/>
          </a:xfrm>
          <a:prstGeom prst="straightConnector1">
            <a:avLst/>
          </a:prstGeom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8" name="Picture 9" descr="C:\Users\3D_User\Desktop\BNC Socket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642" y="5058117"/>
            <a:ext cx="288668" cy="288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5" name="Straight Connector 184"/>
          <p:cNvCxnSpPr/>
          <p:nvPr/>
        </p:nvCxnSpPr>
        <p:spPr>
          <a:xfrm flipH="1">
            <a:off x="2086891" y="5301208"/>
            <a:ext cx="1693021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/>
          <p:cNvCxnSpPr/>
          <p:nvPr/>
        </p:nvCxnSpPr>
        <p:spPr>
          <a:xfrm>
            <a:off x="2958640" y="3081531"/>
            <a:ext cx="86316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/>
          <p:cNvCxnSpPr/>
          <p:nvPr/>
        </p:nvCxnSpPr>
        <p:spPr>
          <a:xfrm flipV="1">
            <a:off x="3044956" y="3078288"/>
            <a:ext cx="0" cy="212709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/>
          <p:cNvCxnSpPr/>
          <p:nvPr/>
        </p:nvCxnSpPr>
        <p:spPr>
          <a:xfrm flipH="1" flipV="1">
            <a:off x="3044956" y="5202451"/>
            <a:ext cx="823218" cy="2927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/>
          <p:cNvSpPr txBox="1"/>
          <p:nvPr/>
        </p:nvSpPr>
        <p:spPr>
          <a:xfrm>
            <a:off x="4222905" y="5589239"/>
            <a:ext cx="973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BNC Socket for R-Wave TTL pulse input</a:t>
            </a:r>
            <a:endParaRPr lang="en-GB" sz="600" dirty="0"/>
          </a:p>
        </p:txBody>
      </p:sp>
      <p:cxnSp>
        <p:nvCxnSpPr>
          <p:cNvPr id="230" name="Straight Arrow Connector 229"/>
          <p:cNvCxnSpPr>
            <a:endCxn id="178" idx="3"/>
          </p:cNvCxnSpPr>
          <p:nvPr/>
        </p:nvCxnSpPr>
        <p:spPr>
          <a:xfrm flipH="1" flipV="1">
            <a:off x="4028310" y="5202451"/>
            <a:ext cx="399087" cy="386788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/>
          <p:cNvCxnSpPr/>
          <p:nvPr/>
        </p:nvCxnSpPr>
        <p:spPr>
          <a:xfrm flipH="1" flipV="1">
            <a:off x="3203848" y="4221088"/>
            <a:ext cx="273" cy="217630"/>
          </a:xfrm>
          <a:prstGeom prst="line">
            <a:avLst/>
          </a:prstGeom>
          <a:ln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0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691" y="4256917"/>
            <a:ext cx="6588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1" name="TextBox 250"/>
          <p:cNvSpPr txBox="1"/>
          <p:nvPr/>
        </p:nvSpPr>
        <p:spPr>
          <a:xfrm>
            <a:off x="3467987" y="3119211"/>
            <a:ext cx="623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 smtClean="0"/>
              <a:t>25 Pin D-Type Connectors</a:t>
            </a:r>
            <a:endParaRPr lang="en-GB" sz="600" dirty="0"/>
          </a:p>
        </p:txBody>
      </p:sp>
      <p:sp>
        <p:nvSpPr>
          <p:cNvPr id="253" name="TextBox 252"/>
          <p:cNvSpPr txBox="1"/>
          <p:nvPr/>
        </p:nvSpPr>
        <p:spPr>
          <a:xfrm>
            <a:off x="5758314" y="5108716"/>
            <a:ext cx="2742432" cy="120032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600" dirty="0"/>
              <a:t>Ground of the Teensy </a:t>
            </a:r>
            <a:r>
              <a:rPr lang="en-GB" sz="600" dirty="0" smtClean="0"/>
              <a:t>should be connected </a:t>
            </a:r>
            <a:r>
              <a:rPr lang="en-GB" sz="600" dirty="0"/>
              <a:t>to pins 24 &amp; </a:t>
            </a:r>
            <a:r>
              <a:rPr lang="en-GB" sz="600" dirty="0" smtClean="0"/>
              <a:t>25 of the D-type female connector. The 5v from the Teensy board should be connected to pins 1 &amp; 2 of the female D-type connector. D0 of the Teensy should be connected to pin 3, D1 to pin 4, D2 to pin 5, …. D12 to pin </a:t>
            </a:r>
            <a:r>
              <a:rPr lang="en-GB" sz="600" dirty="0" smtClean="0"/>
              <a:t>15 of the female D-type connector. </a:t>
            </a:r>
            <a:endParaRPr lang="en-GB" sz="600" dirty="0" smtClean="0"/>
          </a:p>
          <a:p>
            <a:endParaRPr lang="en-GB" sz="600" dirty="0"/>
          </a:p>
          <a:p>
            <a:r>
              <a:rPr lang="en-GB" sz="600" dirty="0" smtClean="0"/>
              <a:t>-----------------------------------------------------------------------------------------------------------</a:t>
            </a:r>
          </a:p>
          <a:p>
            <a:endParaRPr lang="en-GB" sz="600" dirty="0"/>
          </a:p>
          <a:p>
            <a:r>
              <a:rPr lang="en-GB" sz="600" dirty="0" smtClean="0"/>
              <a:t>The 5v supply to the encoder (pin 1) should be connected to pins 1 &amp; 2 of the D-type male connector, encoder ground (pin 2) should be connected to pins 24 &amp; 25. Encoder data input pins (3-15) should be connected such that pin 3 is connected to pin 3 of </a:t>
            </a:r>
            <a:r>
              <a:rPr lang="en-GB" sz="600" dirty="0" smtClean="0"/>
              <a:t>the male </a:t>
            </a:r>
            <a:r>
              <a:rPr lang="en-GB" sz="600" dirty="0" smtClean="0"/>
              <a:t>D-type connector, pin 4 to pin 4 of the connector, …. pin 15 of the encoder is connected to pin 15 of the D-type connector.</a:t>
            </a:r>
            <a:endParaRPr lang="en-GB" sz="600" dirty="0"/>
          </a:p>
        </p:txBody>
      </p:sp>
      <p:cxnSp>
        <p:nvCxnSpPr>
          <p:cNvPr id="100" name="Straight Connector 99"/>
          <p:cNvCxnSpPr/>
          <p:nvPr/>
        </p:nvCxnSpPr>
        <p:spPr>
          <a:xfrm flipH="1">
            <a:off x="4524748" y="3635378"/>
            <a:ext cx="263276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V="1">
            <a:off x="4524748" y="3711096"/>
            <a:ext cx="263276" cy="1109"/>
          </a:xfrm>
          <a:prstGeom prst="line">
            <a:avLst/>
          </a:prstGeom>
          <a:ln w="15875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H="1">
            <a:off x="4524748" y="3793694"/>
            <a:ext cx="263276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H="1">
            <a:off x="4764398" y="3635378"/>
            <a:ext cx="263276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 flipV="1">
            <a:off x="4764398" y="3711096"/>
            <a:ext cx="263276" cy="1109"/>
          </a:xfrm>
          <a:prstGeom prst="line">
            <a:avLst/>
          </a:prstGeom>
          <a:ln w="15875">
            <a:prstDash val="sys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 flipH="1">
            <a:off x="4764398" y="3793694"/>
            <a:ext cx="263276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8" name="Straight Arrow Connector 237"/>
          <p:cNvCxnSpPr/>
          <p:nvPr/>
        </p:nvCxnSpPr>
        <p:spPr>
          <a:xfrm>
            <a:off x="4788024" y="3573016"/>
            <a:ext cx="216024" cy="0"/>
          </a:xfrm>
          <a:prstGeom prst="straightConnector1">
            <a:avLst/>
          </a:prstGeom>
          <a:ln w="6350"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4656386" y="3373628"/>
            <a:ext cx="5004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" dirty="0" smtClean="0"/>
              <a:t>2m length</a:t>
            </a:r>
            <a:endParaRPr lang="en-GB" sz="600" dirty="0"/>
          </a:p>
        </p:txBody>
      </p:sp>
      <p:cxnSp>
        <p:nvCxnSpPr>
          <p:cNvPr id="155" name="Straight Arrow Connector 154"/>
          <p:cNvCxnSpPr/>
          <p:nvPr/>
        </p:nvCxnSpPr>
        <p:spPr>
          <a:xfrm flipH="1" flipV="1">
            <a:off x="3995936" y="4521600"/>
            <a:ext cx="288032" cy="27555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3131840" y="4221088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>
            <a:off x="3131840" y="4149080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3206763" y="4071576"/>
            <a:ext cx="4395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 smtClean="0"/>
              <a:t>470nF</a:t>
            </a:r>
            <a:endParaRPr lang="en-GB" sz="800" dirty="0"/>
          </a:p>
        </p:txBody>
      </p:sp>
      <p:cxnSp>
        <p:nvCxnSpPr>
          <p:cNvPr id="87" name="Straight Connector 86"/>
          <p:cNvCxnSpPr>
            <a:stCxn id="85" idx="1"/>
            <a:endCxn id="85" idx="1"/>
          </p:cNvCxnSpPr>
          <p:nvPr/>
        </p:nvCxnSpPr>
        <p:spPr>
          <a:xfrm>
            <a:off x="3206763" y="417929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 flipV="1">
            <a:off x="3203848" y="4077072"/>
            <a:ext cx="0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/>
          <p:nvPr/>
        </p:nvCxnSpPr>
        <p:spPr>
          <a:xfrm flipV="1">
            <a:off x="3203848" y="4220913"/>
            <a:ext cx="0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446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251</Words>
  <Application>Microsoft Office PowerPoint</Application>
  <PresentationFormat>On-screen Show (4:3)</PresentationFormat>
  <Paragraphs>46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3D_User</dc:creator>
  <cp:lastModifiedBy>3D_User</cp:lastModifiedBy>
  <cp:revision>32</cp:revision>
  <dcterms:created xsi:type="dcterms:W3CDTF">2024-06-27T16:05:53Z</dcterms:created>
  <dcterms:modified xsi:type="dcterms:W3CDTF">2024-06-28T16:19:09Z</dcterms:modified>
</cp:coreProperties>
</file>