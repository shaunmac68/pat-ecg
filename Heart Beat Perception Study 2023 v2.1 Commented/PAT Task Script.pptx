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7" r:id="rId10"/>
    <p:sldId id="270" r:id="rId11"/>
    <p:sldId id="269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53"/>
    <p:restoredTop sz="95144"/>
  </p:normalViewPr>
  <p:slideViewPr>
    <p:cSldViewPr snapToGrid="0">
      <p:cViewPr varScale="1">
        <p:scale>
          <a:sx n="42" d="100"/>
          <a:sy n="42" d="100"/>
        </p:scale>
        <p:origin x="192" y="1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6E0E2-615E-F130-CFC6-76AF279161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05A8BA-1990-9088-A492-C6DDB5EB57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EB4EB-4F49-10F0-6536-2B3A53DAE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01E8F-C2B7-6249-9FE4-878E7AA9DC58}" type="datetimeFigureOut">
              <a:rPr lang="en-US" smtClean="0"/>
              <a:t>7/20/23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0449B-CD7C-B064-4F37-C9407286C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515E18-5B8E-7EFD-B982-43059D2BC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7C012-59BB-9742-9626-E326B2153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335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63CB0-093E-C059-D467-23CD79E42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7F893-D711-AFF0-646D-F578EF4CB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AE814-98C1-B973-6AC9-FA7F20C0A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01E8F-C2B7-6249-9FE4-878E7AA9DC58}" type="datetimeFigureOut">
              <a:rPr lang="en-US" smtClean="0"/>
              <a:t>7/20/23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B6CCA-88EC-CF49-7CDA-CDE90FD20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36D86-7AE4-2A05-6A38-DB4AAFCA1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7C012-59BB-9742-9626-E326B2153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41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7BC70-93FB-0FC6-C8DD-F69E0161D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3D2342-D74F-BDFF-8760-8B035252F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9685F-8D8E-7865-FE86-386DF2385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01E8F-C2B7-6249-9FE4-878E7AA9DC58}" type="datetimeFigureOut">
              <a:rPr lang="en-US" smtClean="0"/>
              <a:t>7/20/23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6AD39-58B5-0037-9E5B-69B99D4AE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8781D-C961-D027-DBF3-ED22B34DE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7C012-59BB-9742-9626-E326B2153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917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D4B5B-2D5D-AB32-961A-DE72C34B7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09112-A336-560C-9CBE-5531C924F3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8B2C58-D09A-7FBC-473C-55E41F862B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5E31A2-A523-B25E-4377-53FEB8C7C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01E8F-C2B7-6249-9FE4-878E7AA9DC58}" type="datetimeFigureOut">
              <a:rPr lang="en-US" smtClean="0"/>
              <a:t>7/20/23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977BD-6B08-A565-9C0A-777D99BE6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C17B0D-DF5A-7FAA-25E2-E951AEA5E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7C012-59BB-9742-9626-E326B2153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178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DB9F9-65F9-28EF-9F20-E9231434B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D14B6E-D0BC-25DE-FB7D-5DA9014D4C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12D05E-D491-5C13-9C08-32A804FEBC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3C32CC-C8C7-BC0B-1F5B-6AE261A940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D6CA31-850D-0DB4-B325-1E4A4FB34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CAC3F8-DC91-D59E-FF99-C9A8DA333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01E8F-C2B7-6249-9FE4-878E7AA9DC58}" type="datetimeFigureOut">
              <a:rPr lang="en-US" smtClean="0"/>
              <a:t>7/20/23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9F8364-5CFE-B9F0-185E-EE28BEC8A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7B0868-367D-B1E1-B92E-E393A14DD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7C012-59BB-9742-9626-E326B2153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639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6BDE8-D6D4-00FC-B2CB-1A5C8955F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47F906-F81E-0623-951C-F8ED625EF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01E8F-C2B7-6249-9FE4-878E7AA9DC58}" type="datetimeFigureOut">
              <a:rPr lang="en-US" smtClean="0"/>
              <a:t>7/20/23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4F252E-BFAA-4454-FA26-D76815A06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2E4247-9F37-8C2D-628B-08742B240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7C012-59BB-9742-9626-E326B2153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137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D69D17-9B07-7022-2B5A-5C89D8E5C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01E8F-C2B7-6249-9FE4-878E7AA9DC58}" type="datetimeFigureOut">
              <a:rPr lang="en-US" smtClean="0"/>
              <a:t>7/20/23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563784-C892-A266-01E6-E13B5120F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957967-C41C-8137-B592-EB7FC8AF3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7C012-59BB-9742-9626-E326B2153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007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EE3E3-A0DF-2F07-FB9E-439813F46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5B37C-4FB9-63A5-DFCD-1E60260A4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898494-57D0-9CDB-763F-77A3D58C4B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75B69C-6A3E-28F1-C0CF-A1AF84B0E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01E8F-C2B7-6249-9FE4-878E7AA9DC58}" type="datetimeFigureOut">
              <a:rPr lang="en-US" smtClean="0"/>
              <a:t>7/20/23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ABCC3A-5EF7-84AD-A94F-B2AF83270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E9406D-3511-2D8C-C33E-318CA8C9E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7C012-59BB-9742-9626-E326B2153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844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D6882-E808-5116-EB91-217092665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D42717-FE26-41DC-051C-B55CEE7576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86D2FC-5721-F7FD-4FFB-964608068E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939EC-279A-0B03-DF6D-57F3794FD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01E8F-C2B7-6249-9FE4-878E7AA9DC58}" type="datetimeFigureOut">
              <a:rPr lang="en-US" smtClean="0"/>
              <a:t>7/20/23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A899C7-4196-FE6D-2A3C-BBD5C0B49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E2C7C7-029A-2C89-101C-DDD0EDC88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7C012-59BB-9742-9626-E326B2153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665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7C5A4-9FF7-914E-38FE-F0E6D2BB9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D49722-4DE7-A955-D967-53F92AC6D3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72307-CC40-3EE0-1920-7D7980606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01E8F-C2B7-6249-9FE4-878E7AA9DC58}" type="datetimeFigureOut">
              <a:rPr lang="en-US" smtClean="0"/>
              <a:t>7/20/23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5D180-3284-99D8-79D8-879AF37D4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66CA7-79CD-4363-6262-1DEF5D75C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7C012-59BB-9742-9626-E326B2153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030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B723FB-5289-B6FB-B7EB-3562F0DF88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4B4974-7148-A95F-337F-4549DA7B4C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40691-AA77-2B4E-9E05-C7F8F95A6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01E8F-C2B7-6249-9FE4-878E7AA9DC58}" type="datetimeFigureOut">
              <a:rPr lang="en-US" smtClean="0"/>
              <a:t>7/20/23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C08B7-61CB-45EC-8583-ACDD1758C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B48B6-2A6F-CD47-5F5C-8A0B03B85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7C012-59BB-9742-9626-E326B2153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745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2A907C-8634-9A65-EE14-0A1C5883B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B3BD6A-E88F-2C30-290F-FC6ADF519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3B87D6-1D37-48BA-504A-A35BB9E355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101E8F-C2B7-6249-9FE4-878E7AA9DC58}" type="datetimeFigureOut">
              <a:rPr lang="en-US" smtClean="0"/>
              <a:t>7/20/23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DECC9-79BF-FF8E-6C3B-00CACF6BF3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AB722-0DAE-4364-F168-0CE072AD39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7C012-59BB-9742-9626-E326B2153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040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F651D-FE6C-FC54-5099-A4DCCBAE9B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93152"/>
            <a:ext cx="9144000" cy="2387600"/>
          </a:xfrm>
        </p:spPr>
        <p:txBody>
          <a:bodyPr/>
          <a:lstStyle/>
          <a:p>
            <a:r>
              <a:rPr lang="en-US" dirty="0"/>
              <a:t>PAT TASK SCRIPT – COMPUTER SCREEN</a:t>
            </a:r>
          </a:p>
        </p:txBody>
      </p:sp>
    </p:spTree>
    <p:extLst>
      <p:ext uri="{BB962C8B-B14F-4D97-AF65-F5344CB8AC3E}">
        <p14:creationId xmlns:p14="http://schemas.microsoft.com/office/powerpoint/2010/main" val="513354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D8A5F-07B0-D74A-7BCB-FD2BF02907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27280"/>
            <a:ext cx="9144000" cy="4485061"/>
          </a:xfrm>
        </p:spPr>
        <p:txBody>
          <a:bodyPr>
            <a:normAutofit fontScale="90000"/>
          </a:bodyPr>
          <a:lstStyle/>
          <a:p>
            <a:r>
              <a:rPr lang="en-US" sz="8000" dirty="0"/>
              <a:t>Welcome to the task – </a:t>
            </a:r>
            <a:br>
              <a:rPr lang="en-US" sz="8000" dirty="0"/>
            </a:br>
            <a:r>
              <a:rPr lang="en-US" sz="8000" dirty="0"/>
              <a:t>please read the following instructions carefully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997AEC1-E01C-DD1C-6A42-D0E52C1C7A22}"/>
              </a:ext>
            </a:extLst>
          </p:cNvPr>
          <p:cNvSpPr/>
          <p:nvPr/>
        </p:nvSpPr>
        <p:spPr>
          <a:xfrm>
            <a:off x="2492188" y="5211202"/>
            <a:ext cx="7207623" cy="1102659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i="1" dirty="0"/>
              <a:t>PRESS SPACEBAR TO CONTINUE</a:t>
            </a:r>
          </a:p>
        </p:txBody>
      </p:sp>
    </p:spTree>
    <p:extLst>
      <p:ext uri="{BB962C8B-B14F-4D97-AF65-F5344CB8AC3E}">
        <p14:creationId xmlns:p14="http://schemas.microsoft.com/office/powerpoint/2010/main" val="1806141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08E61-7F19-F7D6-4E0D-DA0B53DF5E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56509" y="-544802"/>
            <a:ext cx="8478982" cy="2934711"/>
          </a:xfrm>
        </p:spPr>
        <p:txBody>
          <a:bodyPr>
            <a:normAutofit/>
          </a:bodyPr>
          <a:lstStyle/>
          <a:p>
            <a:r>
              <a:rPr lang="en-US" sz="4800" dirty="0"/>
              <a:t>This part of the study will test how well you can match your heartbeat with auditory tones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17666E7-924D-0D8B-0CD7-C1662AA628BE}"/>
              </a:ext>
            </a:extLst>
          </p:cNvPr>
          <p:cNvSpPr txBox="1">
            <a:spLocks/>
          </p:cNvSpPr>
          <p:nvPr/>
        </p:nvSpPr>
        <p:spPr>
          <a:xfrm>
            <a:off x="2074717" y="2236282"/>
            <a:ext cx="8042564" cy="29347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/>
              <a:t>Once you press the spacebar, you will hear a series of tones, those tones represent your own heartbeats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5188E66-71F0-2099-3194-8BD867D1B762}"/>
              </a:ext>
            </a:extLst>
          </p:cNvPr>
          <p:cNvSpPr/>
          <p:nvPr/>
        </p:nvSpPr>
        <p:spPr>
          <a:xfrm>
            <a:off x="2492188" y="5460583"/>
            <a:ext cx="7207623" cy="1102659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i="1" dirty="0"/>
              <a:t>PRESS SPACEBAR TO CONTINUE</a:t>
            </a:r>
          </a:p>
        </p:txBody>
      </p:sp>
    </p:spTree>
    <p:extLst>
      <p:ext uri="{BB962C8B-B14F-4D97-AF65-F5344CB8AC3E}">
        <p14:creationId xmlns:p14="http://schemas.microsoft.com/office/powerpoint/2010/main" val="3463270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C951819-4CCE-5741-90ED-E8AF8E06FCD2}"/>
              </a:ext>
            </a:extLst>
          </p:cNvPr>
          <p:cNvSpPr/>
          <p:nvPr/>
        </p:nvSpPr>
        <p:spPr>
          <a:xfrm>
            <a:off x="1475510" y="153641"/>
            <a:ext cx="3943656" cy="1179135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i="1" dirty="0"/>
              <a:t>EXAMPLE HEARTBEAT</a:t>
            </a:r>
          </a:p>
        </p:txBody>
      </p:sp>
      <p:sp>
        <p:nvSpPr>
          <p:cNvPr id="5" name="Heart 4">
            <a:extLst>
              <a:ext uri="{FF2B5EF4-FFF2-40B4-BE49-F238E27FC236}">
                <a16:creationId xmlns:a16="http://schemas.microsoft.com/office/drawing/2014/main" id="{66F44375-77F0-A0E4-29C7-CBE90055EC85}"/>
              </a:ext>
            </a:extLst>
          </p:cNvPr>
          <p:cNvSpPr/>
          <p:nvPr/>
        </p:nvSpPr>
        <p:spPr>
          <a:xfrm>
            <a:off x="2452255" y="1602718"/>
            <a:ext cx="1990165" cy="2259106"/>
          </a:xfrm>
          <a:prstGeom prst="hear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5506C67-39C2-F836-A13A-FBB2E57EF097}"/>
              </a:ext>
            </a:extLst>
          </p:cNvPr>
          <p:cNvSpPr/>
          <p:nvPr/>
        </p:nvSpPr>
        <p:spPr>
          <a:xfrm>
            <a:off x="6799730" y="153640"/>
            <a:ext cx="3943656" cy="1179135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i="1" dirty="0"/>
              <a:t>EXAMPLE </a:t>
            </a:r>
          </a:p>
          <a:p>
            <a:pPr algn="ctr"/>
            <a:r>
              <a:rPr lang="en-US" sz="4000" b="1" i="1" dirty="0"/>
              <a:t>TONE</a:t>
            </a:r>
          </a:p>
        </p:txBody>
      </p:sp>
      <p:pic>
        <p:nvPicPr>
          <p:cNvPr id="7" name="University of Wales Bangor Pendyffryn Catholic Chaplaincy">
            <a:hlinkClick r:id="" action="ppaction://media"/>
            <a:extLst>
              <a:ext uri="{FF2B5EF4-FFF2-40B4-BE49-F238E27FC236}">
                <a16:creationId xmlns:a16="http://schemas.microsoft.com/office/drawing/2014/main" id="{3DC70494-F668-0424-D116-00212FC411E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500704" y="1396060"/>
            <a:ext cx="2701771" cy="27017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11C6D0F-2890-4106-B3B6-A6F28BD8BE3E}"/>
              </a:ext>
            </a:extLst>
          </p:cNvPr>
          <p:cNvSpPr/>
          <p:nvPr/>
        </p:nvSpPr>
        <p:spPr>
          <a:xfrm>
            <a:off x="1475510" y="4120095"/>
            <a:ext cx="9267876" cy="1135436"/>
          </a:xfrm>
          <a:prstGeom prst="round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i="1" dirty="0"/>
              <a:t>NOTICE HOW THE TONE IS OUT OF SYNC WITH YOUR HEARBEATS?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132E948-B987-E61D-6B21-7353E511FDBC}"/>
              </a:ext>
            </a:extLst>
          </p:cNvPr>
          <p:cNvSpPr/>
          <p:nvPr/>
        </p:nvSpPr>
        <p:spPr>
          <a:xfrm>
            <a:off x="2505636" y="5513802"/>
            <a:ext cx="7207623" cy="1102659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i="1" dirty="0"/>
              <a:t>PRESS SPACEBAR TO CONTINUE</a:t>
            </a:r>
          </a:p>
        </p:txBody>
      </p:sp>
    </p:spTree>
    <p:extLst>
      <p:ext uri="{BB962C8B-B14F-4D97-AF65-F5344CB8AC3E}">
        <p14:creationId xmlns:p14="http://schemas.microsoft.com/office/powerpoint/2010/main" val="3459013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25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625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26" presetClass="emph" presetSubtype="0" fill="hold" grpId="2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25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625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26" presetClass="emph" presetSubtype="0" fill="hold" grpId="3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25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625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750"/>
                            </p:stCondLst>
                            <p:childTnLst>
                              <p:par>
                                <p:cTn id="21" presetID="26" presetClass="emph" presetSubtype="0" fill="hold" grpId="4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125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625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500"/>
                            </p:stCondLst>
                            <p:childTnLst>
                              <p:par>
                                <p:cTn id="25" presetID="26" presetClass="emph" presetSubtype="0" fill="hold" grpId="5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25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625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1" presetClass="mediacall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29" dur="12953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  <p:bldLst>
      <p:bldP spid="5" grpId="0" animBg="1"/>
      <p:bldP spid="5" grpId="1" animBg="1"/>
      <p:bldP spid="5" grpId="2" animBg="1"/>
      <p:bldP spid="5" grpId="3" animBg="1"/>
      <p:bldP spid="5" grpId="4" animBg="1"/>
      <p:bldP spid="5" grpId="5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F8EE510-E6B5-99F7-93A2-26AA2D0D2750}"/>
              </a:ext>
            </a:extLst>
          </p:cNvPr>
          <p:cNvSpPr txBox="1">
            <a:spLocks/>
          </p:cNvSpPr>
          <p:nvPr/>
        </p:nvSpPr>
        <p:spPr>
          <a:xfrm>
            <a:off x="1856509" y="-233076"/>
            <a:ext cx="8478982" cy="29347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/>
              <a:t>It may seem as if there is a delay between the tones you can hear and your own heartbeats you feel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03A2DAA-849B-F408-4B2B-4E81206BA3F8}"/>
              </a:ext>
            </a:extLst>
          </p:cNvPr>
          <p:cNvSpPr txBox="1">
            <a:spLocks/>
          </p:cNvSpPr>
          <p:nvPr/>
        </p:nvSpPr>
        <p:spPr>
          <a:xfrm>
            <a:off x="1856509" y="2296180"/>
            <a:ext cx="8478982" cy="29347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/>
              <a:t>In order to rectify the delay, you will be asked to rotate the dial until the sounds are in sync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8B78EB2-2F80-ACF1-6500-E284386445C9}"/>
              </a:ext>
            </a:extLst>
          </p:cNvPr>
          <p:cNvSpPr/>
          <p:nvPr/>
        </p:nvSpPr>
        <p:spPr>
          <a:xfrm>
            <a:off x="2492188" y="5460583"/>
            <a:ext cx="7207623" cy="1102659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i="1" dirty="0"/>
              <a:t>PRESS SPACEBAR TO CONTINUE</a:t>
            </a:r>
          </a:p>
        </p:txBody>
      </p:sp>
    </p:spTree>
    <p:extLst>
      <p:ext uri="{BB962C8B-B14F-4D97-AF65-F5344CB8AC3E}">
        <p14:creationId xmlns:p14="http://schemas.microsoft.com/office/powerpoint/2010/main" val="2149643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A5BE6564-3C1E-1759-033B-4EAB99B26E81}"/>
              </a:ext>
            </a:extLst>
          </p:cNvPr>
          <p:cNvGrpSpPr/>
          <p:nvPr/>
        </p:nvGrpSpPr>
        <p:grpSpPr>
          <a:xfrm>
            <a:off x="3558539" y="0"/>
            <a:ext cx="5074920" cy="4663440"/>
            <a:chOff x="3558540" y="1097280"/>
            <a:chExt cx="5074920" cy="466344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78872B4B-28DD-88C4-4239-A3B6520A47CF}"/>
                </a:ext>
              </a:extLst>
            </p:cNvPr>
            <p:cNvSpPr/>
            <p:nvPr/>
          </p:nvSpPr>
          <p:spPr>
            <a:xfrm>
              <a:off x="3558540" y="1097280"/>
              <a:ext cx="5074920" cy="4663440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A716CFF-2074-3CF2-02B1-7FB0D0D2A229}"/>
                </a:ext>
              </a:extLst>
            </p:cNvPr>
            <p:cNvCxnSpPr>
              <a:stCxn id="4" idx="0"/>
            </p:cNvCxnSpPr>
            <p:nvPr/>
          </p:nvCxnSpPr>
          <p:spPr>
            <a:xfrm>
              <a:off x="6096000" y="1097280"/>
              <a:ext cx="0" cy="34465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24C0940-A6C3-2089-31E2-6C59F7E3CDCA}"/>
                </a:ext>
              </a:extLst>
            </p:cNvPr>
            <p:cNvCxnSpPr>
              <a:stCxn id="4" idx="1"/>
            </p:cNvCxnSpPr>
            <p:nvPr/>
          </p:nvCxnSpPr>
          <p:spPr>
            <a:xfrm>
              <a:off x="4301745" y="1780225"/>
              <a:ext cx="246809" cy="22442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5DE51D6-FD2F-A4D6-2250-943404426BF2}"/>
                </a:ext>
              </a:extLst>
            </p:cNvPr>
            <p:cNvCxnSpPr>
              <a:cxnSpLocks/>
            </p:cNvCxnSpPr>
            <p:nvPr/>
          </p:nvCxnSpPr>
          <p:spPr>
            <a:xfrm>
              <a:off x="3558540" y="3429000"/>
              <a:ext cx="34524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5E10D25-A5DF-EAFB-0197-0B64C4C9E64C}"/>
                </a:ext>
              </a:extLst>
            </p:cNvPr>
            <p:cNvCxnSpPr>
              <a:cxnSpLocks/>
              <a:stCxn id="4" idx="3"/>
            </p:cNvCxnSpPr>
            <p:nvPr/>
          </p:nvCxnSpPr>
          <p:spPr>
            <a:xfrm flipV="1">
              <a:off x="4301745" y="4712677"/>
              <a:ext cx="246809" cy="36509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CF5B76A-02EA-91AC-0C3B-9B63DDF1CF32}"/>
                </a:ext>
              </a:extLst>
            </p:cNvPr>
            <p:cNvCxnSpPr/>
            <p:nvPr/>
          </p:nvCxnSpPr>
          <p:spPr>
            <a:xfrm>
              <a:off x="6096001" y="5399649"/>
              <a:ext cx="0" cy="34465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F8142AC-D13C-686C-9D32-D00E9181EC02}"/>
                </a:ext>
              </a:extLst>
            </p:cNvPr>
            <p:cNvCxnSpPr>
              <a:cxnSpLocks/>
              <a:endCxn id="4" idx="7"/>
            </p:cNvCxnSpPr>
            <p:nvPr/>
          </p:nvCxnSpPr>
          <p:spPr>
            <a:xfrm flipV="1">
              <a:off x="7643448" y="1780225"/>
              <a:ext cx="246807" cy="22442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C7BAED-C28F-B4CB-092A-58DCCEA30D14}"/>
                </a:ext>
              </a:extLst>
            </p:cNvPr>
            <p:cNvCxnSpPr>
              <a:cxnSpLocks/>
              <a:endCxn id="4" idx="6"/>
            </p:cNvCxnSpPr>
            <p:nvPr/>
          </p:nvCxnSpPr>
          <p:spPr>
            <a:xfrm>
              <a:off x="8288217" y="3429000"/>
              <a:ext cx="345243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725232B-582A-B16A-3CC5-444058E4E635}"/>
                </a:ext>
              </a:extLst>
            </p:cNvPr>
            <p:cNvCxnSpPr>
              <a:cxnSpLocks/>
              <a:endCxn id="4" idx="5"/>
            </p:cNvCxnSpPr>
            <p:nvPr/>
          </p:nvCxnSpPr>
          <p:spPr>
            <a:xfrm>
              <a:off x="7643448" y="4853355"/>
              <a:ext cx="246807" cy="2244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B239EF8D-2159-2C76-383E-CEA4294E736F}"/>
              </a:ext>
            </a:extLst>
          </p:cNvPr>
          <p:cNvSpPr/>
          <p:nvPr/>
        </p:nvSpPr>
        <p:spPr>
          <a:xfrm>
            <a:off x="8824614" y="367229"/>
            <a:ext cx="2098431" cy="1043354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/>
              <a:t>TURN RIGHT</a:t>
            </a:r>
          </a:p>
        </p:txBody>
      </p:sp>
      <p:sp>
        <p:nvSpPr>
          <p:cNvPr id="52" name="Down Arrow 51">
            <a:extLst>
              <a:ext uri="{FF2B5EF4-FFF2-40B4-BE49-F238E27FC236}">
                <a16:creationId xmlns:a16="http://schemas.microsoft.com/office/drawing/2014/main" id="{4FE0438F-E198-2246-9199-950EBC4326A8}"/>
              </a:ext>
            </a:extLst>
          </p:cNvPr>
          <p:cNvSpPr/>
          <p:nvPr/>
        </p:nvSpPr>
        <p:spPr>
          <a:xfrm>
            <a:off x="9566754" y="1785810"/>
            <a:ext cx="614149" cy="1665027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C19BE2DD-470C-954D-4856-579C5807AFBF}"/>
              </a:ext>
            </a:extLst>
          </p:cNvPr>
          <p:cNvSpPr/>
          <p:nvPr/>
        </p:nvSpPr>
        <p:spPr>
          <a:xfrm>
            <a:off x="1268953" y="273478"/>
            <a:ext cx="2098431" cy="1043354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/>
              <a:t>TURN LEFT</a:t>
            </a:r>
          </a:p>
        </p:txBody>
      </p:sp>
      <p:sp>
        <p:nvSpPr>
          <p:cNvPr id="54" name="Down Arrow 53">
            <a:extLst>
              <a:ext uri="{FF2B5EF4-FFF2-40B4-BE49-F238E27FC236}">
                <a16:creationId xmlns:a16="http://schemas.microsoft.com/office/drawing/2014/main" id="{A67B5FC2-BF81-DAF8-EDB5-0A85D4F415B9}"/>
              </a:ext>
            </a:extLst>
          </p:cNvPr>
          <p:cNvSpPr/>
          <p:nvPr/>
        </p:nvSpPr>
        <p:spPr>
          <a:xfrm>
            <a:off x="2011095" y="1785810"/>
            <a:ext cx="614149" cy="1665027"/>
          </a:xfrm>
          <a:prstGeom prst="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2A9D1322-74BE-8FC6-1F3F-7850FFCCE101}"/>
              </a:ext>
            </a:extLst>
          </p:cNvPr>
          <p:cNvSpPr/>
          <p:nvPr/>
        </p:nvSpPr>
        <p:spPr>
          <a:xfrm>
            <a:off x="2492188" y="5624799"/>
            <a:ext cx="7207623" cy="1102659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i="1" dirty="0"/>
              <a:t>PRESS SPACEBAR TO CONTINUE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C6D428-F3A0-984D-E256-9EE9E9229849}"/>
              </a:ext>
            </a:extLst>
          </p:cNvPr>
          <p:cNvSpPr txBox="1">
            <a:spLocks/>
          </p:cNvSpPr>
          <p:nvPr/>
        </p:nvSpPr>
        <p:spPr>
          <a:xfrm rot="10800000" flipV="1">
            <a:off x="928254" y="4739975"/>
            <a:ext cx="10335490" cy="8082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/>
              <a:t>Turn the dial so that the tone is simultaneous with your perception of the heartbeat </a:t>
            </a:r>
          </a:p>
        </p:txBody>
      </p:sp>
    </p:spTree>
    <p:extLst>
      <p:ext uri="{BB962C8B-B14F-4D97-AF65-F5344CB8AC3E}">
        <p14:creationId xmlns:p14="http://schemas.microsoft.com/office/powerpoint/2010/main" val="3737369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 tmFilter="0, 0; .2, .5; .8, .5; 1, 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250" autoRev="1" fill="hold"/>
                                        <p:tgtEl>
                                          <p:spTgt spid="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5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5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52" grpId="0" animBg="1"/>
      <p:bldP spid="53" grpId="0" animBg="1"/>
      <p:bldP spid="5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A5BE6564-3C1E-1759-033B-4EAB99B26E81}"/>
              </a:ext>
            </a:extLst>
          </p:cNvPr>
          <p:cNvGrpSpPr/>
          <p:nvPr/>
        </p:nvGrpSpPr>
        <p:grpSpPr>
          <a:xfrm>
            <a:off x="3558540" y="278414"/>
            <a:ext cx="5074920" cy="4663440"/>
            <a:chOff x="3558540" y="1097280"/>
            <a:chExt cx="5074920" cy="466344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78872B4B-28DD-88C4-4239-A3B6520A47CF}"/>
                </a:ext>
              </a:extLst>
            </p:cNvPr>
            <p:cNvSpPr/>
            <p:nvPr/>
          </p:nvSpPr>
          <p:spPr>
            <a:xfrm>
              <a:off x="3558540" y="1097280"/>
              <a:ext cx="5074920" cy="4663440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A716CFF-2074-3CF2-02B1-7FB0D0D2A229}"/>
                </a:ext>
              </a:extLst>
            </p:cNvPr>
            <p:cNvCxnSpPr>
              <a:stCxn id="4" idx="0"/>
            </p:cNvCxnSpPr>
            <p:nvPr/>
          </p:nvCxnSpPr>
          <p:spPr>
            <a:xfrm>
              <a:off x="6096000" y="1097280"/>
              <a:ext cx="0" cy="34465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24C0940-A6C3-2089-31E2-6C59F7E3CDCA}"/>
                </a:ext>
              </a:extLst>
            </p:cNvPr>
            <p:cNvCxnSpPr>
              <a:stCxn id="4" idx="1"/>
            </p:cNvCxnSpPr>
            <p:nvPr/>
          </p:nvCxnSpPr>
          <p:spPr>
            <a:xfrm>
              <a:off x="4301745" y="1780225"/>
              <a:ext cx="246809" cy="22442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5DE51D6-FD2F-A4D6-2250-943404426BF2}"/>
                </a:ext>
              </a:extLst>
            </p:cNvPr>
            <p:cNvCxnSpPr>
              <a:cxnSpLocks/>
            </p:cNvCxnSpPr>
            <p:nvPr/>
          </p:nvCxnSpPr>
          <p:spPr>
            <a:xfrm>
              <a:off x="3558540" y="3429000"/>
              <a:ext cx="34524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5E10D25-A5DF-EAFB-0197-0B64C4C9E64C}"/>
                </a:ext>
              </a:extLst>
            </p:cNvPr>
            <p:cNvCxnSpPr>
              <a:cxnSpLocks/>
              <a:stCxn id="4" idx="3"/>
            </p:cNvCxnSpPr>
            <p:nvPr/>
          </p:nvCxnSpPr>
          <p:spPr>
            <a:xfrm flipV="1">
              <a:off x="4301745" y="4712677"/>
              <a:ext cx="246809" cy="36509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CF5B76A-02EA-91AC-0C3B-9B63DDF1CF32}"/>
                </a:ext>
              </a:extLst>
            </p:cNvPr>
            <p:cNvCxnSpPr/>
            <p:nvPr/>
          </p:nvCxnSpPr>
          <p:spPr>
            <a:xfrm>
              <a:off x="6096001" y="5399649"/>
              <a:ext cx="0" cy="34465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F8142AC-D13C-686C-9D32-D00E9181EC02}"/>
                </a:ext>
              </a:extLst>
            </p:cNvPr>
            <p:cNvCxnSpPr>
              <a:cxnSpLocks/>
              <a:endCxn id="4" idx="7"/>
            </p:cNvCxnSpPr>
            <p:nvPr/>
          </p:nvCxnSpPr>
          <p:spPr>
            <a:xfrm flipV="1">
              <a:off x="7643448" y="1780225"/>
              <a:ext cx="246807" cy="22442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C7BAED-C28F-B4CB-092A-58DCCEA30D14}"/>
                </a:ext>
              </a:extLst>
            </p:cNvPr>
            <p:cNvCxnSpPr>
              <a:cxnSpLocks/>
              <a:endCxn id="4" idx="6"/>
            </p:cNvCxnSpPr>
            <p:nvPr/>
          </p:nvCxnSpPr>
          <p:spPr>
            <a:xfrm>
              <a:off x="8288217" y="3429000"/>
              <a:ext cx="345243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725232B-582A-B16A-3CC5-444058E4E635}"/>
                </a:ext>
              </a:extLst>
            </p:cNvPr>
            <p:cNvCxnSpPr>
              <a:cxnSpLocks/>
              <a:endCxn id="4" idx="5"/>
            </p:cNvCxnSpPr>
            <p:nvPr/>
          </p:nvCxnSpPr>
          <p:spPr>
            <a:xfrm>
              <a:off x="7643448" y="4853355"/>
              <a:ext cx="246807" cy="2244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B239EF8D-2159-2C76-383E-CEA4294E736F}"/>
              </a:ext>
            </a:extLst>
          </p:cNvPr>
          <p:cNvSpPr/>
          <p:nvPr/>
        </p:nvSpPr>
        <p:spPr>
          <a:xfrm>
            <a:off x="8824615" y="645643"/>
            <a:ext cx="2098431" cy="1043354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/>
              <a:t>TURN RIGHT</a:t>
            </a:r>
          </a:p>
        </p:txBody>
      </p:sp>
      <p:sp>
        <p:nvSpPr>
          <p:cNvPr id="52" name="Down Arrow 51">
            <a:extLst>
              <a:ext uri="{FF2B5EF4-FFF2-40B4-BE49-F238E27FC236}">
                <a16:creationId xmlns:a16="http://schemas.microsoft.com/office/drawing/2014/main" id="{4FE0438F-E198-2246-9199-950EBC4326A8}"/>
              </a:ext>
            </a:extLst>
          </p:cNvPr>
          <p:cNvSpPr/>
          <p:nvPr/>
        </p:nvSpPr>
        <p:spPr>
          <a:xfrm>
            <a:off x="9566755" y="2064224"/>
            <a:ext cx="614149" cy="1665027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C19BE2DD-470C-954D-4856-579C5807AFBF}"/>
              </a:ext>
            </a:extLst>
          </p:cNvPr>
          <p:cNvSpPr/>
          <p:nvPr/>
        </p:nvSpPr>
        <p:spPr>
          <a:xfrm>
            <a:off x="1268954" y="551892"/>
            <a:ext cx="2098431" cy="1043354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/>
              <a:t>TURN LEFT</a:t>
            </a:r>
          </a:p>
        </p:txBody>
      </p:sp>
      <p:sp>
        <p:nvSpPr>
          <p:cNvPr id="54" name="Down Arrow 53">
            <a:extLst>
              <a:ext uri="{FF2B5EF4-FFF2-40B4-BE49-F238E27FC236}">
                <a16:creationId xmlns:a16="http://schemas.microsoft.com/office/drawing/2014/main" id="{A67B5FC2-BF81-DAF8-EDB5-0A85D4F415B9}"/>
              </a:ext>
            </a:extLst>
          </p:cNvPr>
          <p:cNvSpPr/>
          <p:nvPr/>
        </p:nvSpPr>
        <p:spPr>
          <a:xfrm>
            <a:off x="2011096" y="2064224"/>
            <a:ext cx="614149" cy="1665027"/>
          </a:xfrm>
          <a:prstGeom prst="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2A9D1322-74BE-8FC6-1F3F-7850FFCCE101}"/>
              </a:ext>
            </a:extLst>
          </p:cNvPr>
          <p:cNvSpPr/>
          <p:nvPr/>
        </p:nvSpPr>
        <p:spPr>
          <a:xfrm>
            <a:off x="2666206" y="5345311"/>
            <a:ext cx="7207623" cy="1102659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1" dirty="0"/>
              <a:t>Once you are happy with your choice, PRESS SPACEBAR TO CONTINUE</a:t>
            </a:r>
          </a:p>
        </p:txBody>
      </p:sp>
    </p:spTree>
    <p:extLst>
      <p:ext uri="{BB962C8B-B14F-4D97-AF65-F5344CB8AC3E}">
        <p14:creationId xmlns:p14="http://schemas.microsoft.com/office/powerpoint/2010/main" val="2529422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1C8EB0D-E3FC-792D-0B62-D37E8674F068}"/>
              </a:ext>
            </a:extLst>
          </p:cNvPr>
          <p:cNvSpPr txBox="1">
            <a:spLocks/>
          </p:cNvSpPr>
          <p:nvPr/>
        </p:nvSpPr>
        <p:spPr>
          <a:xfrm>
            <a:off x="1856509" y="0"/>
            <a:ext cx="8478982" cy="29347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/>
              <a:t>After each trial you will rate how confident you were about matching your heartbeat to the tone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4664400-F95F-78B5-C5DE-66FD9F090B78}"/>
              </a:ext>
            </a:extLst>
          </p:cNvPr>
          <p:cNvSpPr/>
          <p:nvPr/>
        </p:nvSpPr>
        <p:spPr>
          <a:xfrm>
            <a:off x="468923" y="3165231"/>
            <a:ext cx="11160369" cy="1441938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/>
              <a:t>On a scale of 1 (not confident at all) to 10 (extremely confident) how confident are you that you matched the tone to your heartbeat?</a:t>
            </a:r>
          </a:p>
          <a:p>
            <a:pPr algn="ctr"/>
            <a:endParaRPr lang="en-US" sz="2000" b="1" i="1" dirty="0"/>
          </a:p>
          <a:p>
            <a:pPr algn="ctr"/>
            <a:r>
              <a:rPr lang="en-US" sz="2000" b="1" i="1" dirty="0"/>
              <a:t>1……………………………………………………………………………………………………………………………………………………….10</a:t>
            </a:r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E956965A-0932-8DBE-5B4B-13A49132D6EB}"/>
              </a:ext>
            </a:extLst>
          </p:cNvPr>
          <p:cNvSpPr/>
          <p:nvPr/>
        </p:nvSpPr>
        <p:spPr>
          <a:xfrm>
            <a:off x="6002215" y="3927231"/>
            <a:ext cx="269631" cy="351692"/>
          </a:xfrm>
          <a:prstGeom prst="downArrow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E783CE6-4AEE-1F18-4868-56F6DEDEEB8F}"/>
              </a:ext>
            </a:extLst>
          </p:cNvPr>
          <p:cNvSpPr/>
          <p:nvPr/>
        </p:nvSpPr>
        <p:spPr>
          <a:xfrm>
            <a:off x="2666206" y="5345311"/>
            <a:ext cx="7207623" cy="1102659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i="1" dirty="0"/>
              <a:t>Once you are happy with your choice, PRESS SPACEBAR TO CONTINUE</a:t>
            </a:r>
          </a:p>
        </p:txBody>
      </p:sp>
    </p:spTree>
    <p:extLst>
      <p:ext uri="{BB962C8B-B14F-4D97-AF65-F5344CB8AC3E}">
        <p14:creationId xmlns:p14="http://schemas.microsoft.com/office/powerpoint/2010/main" val="3869045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3555 0 " pathEditMode="relative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40377 0 " pathEditMode="relative" ptsTypes="AA">
                                      <p:cBhvr>
                                        <p:cTn id="1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8427AD6-249B-0806-3B48-5BF4CAE7F706}"/>
              </a:ext>
            </a:extLst>
          </p:cNvPr>
          <p:cNvSpPr txBox="1">
            <a:spLocks/>
          </p:cNvSpPr>
          <p:nvPr/>
        </p:nvSpPr>
        <p:spPr>
          <a:xfrm>
            <a:off x="0" y="-632012"/>
            <a:ext cx="12192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b="1" i="1" dirty="0">
                <a:solidFill>
                  <a:srgbClr val="FF0000"/>
                </a:solidFill>
              </a:rPr>
              <a:t>FOR THE DURATION OF THIS TASK, PLEASE SIT AS STILL AS POSSIBLE AND REFRAIN FROM TENSING YOUR MUSCLES OR ALTERING YOUR BREATHING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FC0B700-6AFC-21AC-A8BD-93A182EF5378}"/>
              </a:ext>
            </a:extLst>
          </p:cNvPr>
          <p:cNvSpPr/>
          <p:nvPr/>
        </p:nvSpPr>
        <p:spPr>
          <a:xfrm>
            <a:off x="2492188" y="5123329"/>
            <a:ext cx="7207623" cy="1102659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i="1" dirty="0"/>
              <a:t>PRESS SPACEBAR TO CONTINUE</a:t>
            </a:r>
          </a:p>
        </p:txBody>
      </p:sp>
    </p:spTree>
    <p:extLst>
      <p:ext uri="{BB962C8B-B14F-4D97-AF65-F5344CB8AC3E}">
        <p14:creationId xmlns:p14="http://schemas.microsoft.com/office/powerpoint/2010/main" val="2250247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8427AD6-249B-0806-3B48-5BF4CAE7F706}"/>
              </a:ext>
            </a:extLst>
          </p:cNvPr>
          <p:cNvSpPr txBox="1">
            <a:spLocks/>
          </p:cNvSpPr>
          <p:nvPr/>
        </p:nvSpPr>
        <p:spPr>
          <a:xfrm>
            <a:off x="0" y="-632012"/>
            <a:ext cx="12192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b="1" i="1" dirty="0">
                <a:solidFill>
                  <a:srgbClr val="FF0000"/>
                </a:solidFill>
              </a:rPr>
              <a:t>REMEMBER</a:t>
            </a:r>
          </a:p>
          <a:p>
            <a:pPr algn="ctr"/>
            <a:r>
              <a:rPr lang="en-US" sz="6000" b="1" i="1" dirty="0">
                <a:solidFill>
                  <a:srgbClr val="FF0000"/>
                </a:solidFill>
              </a:rPr>
              <a:t>Move the dial so the tone matches your heartbeat to the best of </a:t>
            </a:r>
            <a:r>
              <a:rPr lang="en-US" sz="6000" b="1" i="1">
                <a:solidFill>
                  <a:srgbClr val="FF0000"/>
                </a:solidFill>
              </a:rPr>
              <a:t>your perception</a:t>
            </a:r>
            <a:endParaRPr lang="en-US" sz="6000" b="1" i="1" dirty="0">
              <a:solidFill>
                <a:srgbClr val="FF0000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FC0B700-6AFC-21AC-A8BD-93A182EF5378}"/>
              </a:ext>
            </a:extLst>
          </p:cNvPr>
          <p:cNvSpPr/>
          <p:nvPr/>
        </p:nvSpPr>
        <p:spPr>
          <a:xfrm>
            <a:off x="2492188" y="5123329"/>
            <a:ext cx="7207623" cy="1102659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i="1" dirty="0"/>
              <a:t>PRESS SPACEBAR TO CONTINUE</a:t>
            </a:r>
          </a:p>
        </p:txBody>
      </p:sp>
    </p:spTree>
    <p:extLst>
      <p:ext uri="{BB962C8B-B14F-4D97-AF65-F5344CB8AC3E}">
        <p14:creationId xmlns:p14="http://schemas.microsoft.com/office/powerpoint/2010/main" val="3732814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F651D-FE6C-FC54-5099-A4DCCBAE9B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93152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PHASE ADJUSMENT TASK BEGINS</a:t>
            </a:r>
            <a:br>
              <a:rPr lang="en-US" dirty="0"/>
            </a:br>
            <a:r>
              <a:rPr lang="en-US" dirty="0"/>
              <a:t>TASK BEGINS</a:t>
            </a:r>
          </a:p>
        </p:txBody>
      </p:sp>
    </p:spTree>
    <p:extLst>
      <p:ext uri="{BB962C8B-B14F-4D97-AF65-F5344CB8AC3E}">
        <p14:creationId xmlns:p14="http://schemas.microsoft.com/office/powerpoint/2010/main" val="333802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8427AD6-249B-0806-3B48-5BF4CAE7F706}"/>
              </a:ext>
            </a:extLst>
          </p:cNvPr>
          <p:cNvSpPr txBox="1">
            <a:spLocks/>
          </p:cNvSpPr>
          <p:nvPr/>
        </p:nvSpPr>
        <p:spPr>
          <a:xfrm>
            <a:off x="0" y="-632012"/>
            <a:ext cx="12192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b="1" i="1" dirty="0">
                <a:solidFill>
                  <a:srgbClr val="FF0000"/>
                </a:solidFill>
              </a:rPr>
              <a:t>You will now get two practice trials to get used to the task, Focus on feeling your heartbeat and try to match the sounds to your own heartbeat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FC0B700-6AFC-21AC-A8BD-93A182EF5378}"/>
              </a:ext>
            </a:extLst>
          </p:cNvPr>
          <p:cNvSpPr/>
          <p:nvPr/>
        </p:nvSpPr>
        <p:spPr>
          <a:xfrm>
            <a:off x="2492188" y="5123329"/>
            <a:ext cx="7207623" cy="1102659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i="1" dirty="0"/>
              <a:t>PRESS SPACEBAR TO CONTINUE</a:t>
            </a:r>
          </a:p>
        </p:txBody>
      </p:sp>
    </p:spTree>
    <p:extLst>
      <p:ext uri="{BB962C8B-B14F-4D97-AF65-F5344CB8AC3E}">
        <p14:creationId xmlns:p14="http://schemas.microsoft.com/office/powerpoint/2010/main" val="126021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3994</TotalTime>
  <Words>317</Words>
  <Application>Microsoft Macintosh PowerPoint</Application>
  <PresentationFormat>Widescreen</PresentationFormat>
  <Paragraphs>34</Paragraphs>
  <Slides>12</Slides>
  <Notes>0</Notes>
  <HiddenSlides>1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PAT TASK SCRIPT – COMPUTER SCREEN</vt:lpstr>
      <vt:lpstr>Welcome to the task –  please read the following instructions carefully</vt:lpstr>
      <vt:lpstr>This part of the study will test how well you can match your heartbeat with auditory tones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PHASE ADJUSMENT TASK BEGINS TASK BEGINS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 TASK SCRIPT – COMPUTER SCREEN</dc:title>
  <dc:creator>James Hodgetts</dc:creator>
  <cp:lastModifiedBy>James Hodgetts</cp:lastModifiedBy>
  <cp:revision>78</cp:revision>
  <dcterms:created xsi:type="dcterms:W3CDTF">2023-03-17T13:07:03Z</dcterms:created>
  <dcterms:modified xsi:type="dcterms:W3CDTF">2023-07-20T13:48:07Z</dcterms:modified>
</cp:coreProperties>
</file>